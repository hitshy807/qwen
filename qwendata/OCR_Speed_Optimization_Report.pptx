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Qwen3.5-2B OCR 속도 최적화 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</a:defRPr>
            </a:pPr>
            <a:r>
              <a:t>3.7초 -&gt; 1.56초: llama-server 기반 2.4배 가속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1600" b="0">
                <a:solidFill>
                  <a:srgbClr val="0074D9"/>
                </a:solidFill>
              </a:defRPr>
            </a:pPr>
            <a:r>
              <a:t>13가지 최적화 조합 벤치마크 | 모든 결과 ITEM 정확도 검증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2000" b="1">
                <a:solidFill>
                  <a:srgbClr val="F39C12"/>
                </a:solidFill>
              </a:defRPr>
            </a:pPr>
            <a:r>
              <a:t>CLI subprocess -&gt; Server persistent mode</a:t>
            </a:r>
          </a:p>
          <a:p>
            <a:pPr algn="ctr">
              <a:defRPr sz="1800" b="0">
                <a:solidFill>
                  <a:srgbClr val="F39C12"/>
                </a:solidFill>
              </a:defRPr>
            </a:pPr>
            <a:r>
              <a:t>Q8_0 -&gt; Q4_K_M  |  Flash Attention  |  KV Cache Quantization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BDBDBD"/>
                </a:solidFill>
              </a:defRPr>
            </a:pPr>
            <a:r>
              <a:t>GPU: RTX 5060 Laptop (8GB)  |  Qwen3.5-2B  |  llama.cpp build 8194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최적화 전략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A. 모델 최적화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Q8_0 (1.86GB) -&gt; Q4_K_M (1.27GB)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32% 크기 감소, 더 빠른 행렬 연산</a:t>
            </a:r>
          </a:p>
          <a:p>
            <a:pPr algn="l">
              <a:defRPr sz="1200" b="0">
                <a:solidFill>
                  <a:srgbClr val="BDBDBD"/>
                </a:solidFill>
              </a:defRPr>
            </a:pPr>
            <a:r>
              <a:t>  llama-quantize --allow-requantize Q4_K_M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2000" b="1">
                <a:solidFill>
                  <a:srgbClr val="2ECC71"/>
                </a:solidFill>
              </a:defRPr>
            </a:pPr>
            <a:r>
              <a:t>B. 추론 엔진 최적화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Flash Attention ON (-fa on)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self-attention 메모리 효율 극대화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KV Cache 양자화 (-ctk q8_0 -ctv q8_0)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KV cache 메모리 절반, 대역폭 절약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2000" b="1">
                <a:solidFill>
                  <a:srgbClr val="2ECC71"/>
                </a:solidFill>
              </a:defRPr>
            </a:pPr>
            <a:r>
              <a:t>C. 아키텍처 전환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CLI subprocess -&gt; llama-server HTTP API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모델 로드 1회 -&gt; 메모리 상주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매 요청마다 ~2초 로드 시간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D. 이미지/프롬프트 최적화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이미지 크기: 1/4, 1/9, 1/16 비교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max_tokens: 512 -&gt; 256 축소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프롬프트 최소화 테스트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Context size 제한 (2048)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Batch/ubatch 크기 조정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defRPr sz="2000" b="1">
                <a:solidFill>
                  <a:srgbClr val="F39C12"/>
                </a:solidFill>
              </a:defRPr>
            </a:pPr>
            <a:r>
              <a:t>E. 정확도 검증 기준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ITEM 필드: 3AA00AAAU1TKJX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  AAA가 정확히 3개인지 확인</a:t>
            </a:r>
          </a:p>
          <a:p>
            <a:pPr algn="l">
              <a:defRPr sz="1300" b="0">
                <a:solidFill>
                  <a:srgbClr val="E74C3C"/>
                </a:solidFill>
              </a:defRPr>
            </a:pPr>
            <a:r>
              <a:t>  AAAA (4개)면 FAIL 판정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defRPr sz="1500" b="1">
                <a:solidFill>
                  <a:srgbClr val="0074D9"/>
                </a:solidFill>
              </a:defRPr>
            </a:pPr>
            <a:r>
              <a:t>총 13가지 CLI + 24가지 Server 조합 테스트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CLI 모드 벤치마크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</a:defRPr>
            </a:pPr>
            <a:r>
              <a:t>매 호출마다 모델 로드 (~2초 오버헤드 포함)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모델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이미지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추가 설정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시간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Q8_0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1/4 (1032x656)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-n 512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4.79s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CC71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Q4_K_M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Q4_K_M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1/4 (1032x656)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-n 512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7.57s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CC71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Q4 + tokens=256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Q4_K_M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1/4 (1032x656)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-n 256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5.05s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74C3C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Q4 + FA + KV q8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Q4_K_M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1/4 (1032x656)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-fa on -ctk q8_0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5.08s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74C3C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Q8 + 1/9 image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Q8_0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1/9 (688x437)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-fa on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5.48s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CC71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Q4 + 1/9 image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Q4_K_M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1/9 (688x437)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-fa on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5.21s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74C3C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Q4 + 1/16 image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Q4_K_M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1/16 (516x328)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-fa on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5.10s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74C3C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852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CLI 분석: Q4_K_M은 requantize로 정확도 하락 (CLI에서). 모델 로드 오버헤드가 지배적 (~2초).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Q8_0 + 1/4 이미지가 CLI에서는 최선 (4.79초). 근본적 한계: subprocess 매번 모델 로드.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Server 모드 벤치마크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</a:defRPr>
            </a:pPr>
            <a:r>
              <a:t>모델 1회 로드 후 HTTP API로 요청 (모델 로드 시간 제외)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Best Time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Time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0052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Q4_K_M + FA + KV q8_0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1.556s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1.607s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CC71"/>
                          </a:solidFill>
                        </a:defRPr>
                      </a:pPr>
                      <a:r>
                        <a:t>ALL OK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CC71"/>
                          </a:solidFill>
                        </a:defRPr>
                      </a:pPr>
                      <a:r>
                        <a:t>BEST - 최고 속도 + 정확</a:t>
                      </a:r>
                    </a:p>
                  </a:txBody>
                  <a:tcPr anchor="ctr">
                    <a:solidFill>
                      <a:srgbClr val="1A3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Q8_0 + FA + KV q8_0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1.916s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1.962s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ALL OK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안정적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Q8_0 + FA + KV q4_0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1.931s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1.963s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ALL OK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q4 KV도 정확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Q8_0 + FA + batch 4096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1.959s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2.002s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ALL OK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배치 효과 미미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Q8_0 + FA + 짧은 프롬프트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1.931s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1.963s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ALL OK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프롬프트 효과 미미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Q8_0 + FA + ctx=2048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1.965s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2.030s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ALL OK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ctx 제한 효과 미미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Q4_K_M + FA (KV default)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2.155s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2.336s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ALL OK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KV q8 없으면 느림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Q8_0 + FA (KV default)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2.502s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2.861s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ALL OK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기본 서버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Q8_0 + FA + 1/9 이미지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2.813s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2.813s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ECC71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</a:defRPr>
                      </a:pPr>
                      <a:r>
                        <a:t>작은 이미지 오히려 느림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35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</a:defRPr>
            </a:pPr>
            <a:r>
              <a:t>핵심: Q4_K_M + FA + KV q8_0 서버 모드가 정확도 유지하며 1.56초 달성. 모든 서버 테스트에서 ITEM 정확.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최적화 전후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74C3C"/>
                </a:solidFill>
              </a:defRPr>
            </a:pPr>
            <a:r>
              <a:t>BEFORE (CLI - ocr_cpp.py)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llama-mtmd-cli subprocess 호출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Qwen3.5-2B Q8_0 (1.86 GB)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매 이미지마다 모델 로드 (~2초)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/no_think + temp=0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2000" b="1">
                <a:solidFill>
                  <a:srgbClr val="E74C3C"/>
                </a:solidFill>
              </a:defRPr>
            </a:pPr>
            <a:r>
              <a:t>소요 시간: 3.7 ~ 4.8초/장</a:t>
            </a:r>
          </a:p>
          <a:p>
            <a:pPr algn="ctr">
              <a:defRPr sz="1400" b="0">
                <a:solidFill>
                  <a:srgbClr val="2ECC71"/>
                </a:solidFill>
              </a:defRPr>
            </a:pPr>
            <a:r>
              <a:t>정확도: ITEM AAA 3개 정확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22860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39C12"/>
                </a:solidFill>
              </a:defRPr>
            </a:pPr>
            <a:r>
              <a:t>-&gt;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CC71"/>
                </a:solidFill>
              </a:defRPr>
            </a:pPr>
            <a:r>
              <a:t>AFTER (Server - ocr_server.py)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llama-server HTTP API (상주)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Qwen3.5-2B Q4_K_M (1.27 GB)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모델 1회 로드 후 재사용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Flash Attention + KV cache q8_0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2000" b="1">
                <a:solidFill>
                  <a:srgbClr val="2ECC71"/>
                </a:solidFill>
              </a:defRPr>
            </a:pPr>
            <a:r>
              <a:t>소요 시간: 1.56 ~ 1.92초/장</a:t>
            </a:r>
          </a:p>
          <a:p>
            <a:pPr algn="ctr">
              <a:defRPr sz="1400" b="0">
                <a:solidFill>
                  <a:srgbClr val="2ECC71"/>
                </a:solidFill>
              </a:defRPr>
            </a:pPr>
            <a:r>
              <a:t>정확도: ITEM AAA 3개 정확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4D9"/>
                </a:solidFill>
              </a:defRPr>
            </a:pPr>
            <a:r>
              <a:t>속도 개선 요약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</a:p>
          <a:p>
            <a:pPr algn="ctr">
              <a:defRPr sz="2200" b="1">
                <a:solidFill>
                  <a:srgbClr val="2ECC71"/>
                </a:solidFill>
              </a:defRPr>
            </a:pPr>
            <a:r>
              <a:t>3.7초 -&gt; 1.56초 = 2.4배 가속  |  4.8초 -&gt; 1.56초 = 3.1배 가속</a:t>
            </a:r>
          </a:p>
          <a:p>
            <a:pPr algn="ctr">
              <a:defRPr sz="600" b="0">
                <a:solidFill>
                  <a:srgbClr val="FFFFFF"/>
                </a:solidFill>
              </a:defRPr>
            </a:pPr>
          </a:p>
          <a:p>
            <a:pPr algn="ctr">
              <a:defRPr sz="1400" b="0">
                <a:solidFill>
                  <a:srgbClr val="BDBDBD"/>
                </a:solidFill>
              </a:defRPr>
            </a:pPr>
            <a:r>
              <a:t>주요 기여: Server 상주 모드 (~2초 로드 제거) + Q4_K_M (~0.4초 추론 가속) + KV cache q8_0 (~0.3초)</a:t>
            </a:r>
          </a:p>
          <a:p>
            <a:pPr algn="ctr">
              <a:defRPr sz="1400" b="0">
                <a:solidFill>
                  <a:srgbClr val="2ECC71"/>
                </a:solidFill>
              </a:defRPr>
            </a:pPr>
            <a:r>
              <a:t>정확도 손실: 없음 (ITEM AAA 3개, 전체 텍스트 정확)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최적화 후 OCR 결과 (1.92초)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Server Q4_K_M + FA + KV q8_0 출력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SUPPLIER:SK hynix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DEVICE :HN8T062EHKX039R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LOT NO. :5QQAM42QC - 14X( 1 / 2 )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*5QQAM42QC14X 001*</a:t>
            </a:r>
          </a:p>
          <a:p>
            <a:pPr algn="l">
              <a:defRPr sz="1300" b="1">
                <a:solidFill>
                  <a:srgbClr val="2ECC71"/>
                </a:solidFill>
              </a:defRPr>
            </a:pPr>
            <a:r>
              <a:t>ITEM :402880-04W(A3-3AA00AAAU1TKJX</a:t>
            </a:r>
          </a:p>
          <a:p>
            <a:pPr algn="l">
              <a:defRPr sz="1300" b="1">
                <a:solidFill>
                  <a:srgbClr val="2ECC71"/>
                </a:solidFill>
              </a:defRPr>
            </a:pPr>
            <a:r>
              <a:t>-5AXCCXX-GAYI)-A002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*402880-04W 2000*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Q'TY:2000 EA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Additional information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DATE CODE:251A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PACK DATE:2022/12/22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ASSEMBLED IN KOREA FROM WAFER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FABRICATED IN KOREA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RoHS Compliance / Halogen Free / ECO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</a:defRPr>
            </a:pPr>
            <a:r>
              <a:t>필드별 정확도 검증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2ECC71"/>
                </a:solidFill>
              </a:defRPr>
            </a:pPr>
            <a:r>
              <a:t>SUPPLIER: SK hynix          OK</a:t>
            </a:r>
          </a:p>
          <a:p>
            <a:pPr algn="l">
              <a:defRPr sz="1300" b="0">
                <a:solidFill>
                  <a:srgbClr val="2ECC71"/>
                </a:solidFill>
              </a:defRPr>
            </a:pPr>
            <a:r>
              <a:t>DEVICE: HN8T062EHKX039R     OK</a:t>
            </a:r>
          </a:p>
          <a:p>
            <a:pPr algn="l">
              <a:defRPr sz="1300" b="0">
                <a:solidFill>
                  <a:srgbClr val="2ECC71"/>
                </a:solidFill>
              </a:defRPr>
            </a:pPr>
            <a:r>
              <a:t>LOT NO: 5QQAM42QC-14X(1/2)  OK</a:t>
            </a:r>
          </a:p>
          <a:p>
            <a:pPr algn="l">
              <a:defRPr sz="1300" b="1">
                <a:solidFill>
                  <a:srgbClr val="2ECC71"/>
                </a:solidFill>
              </a:defRPr>
            </a:pPr>
            <a:r>
              <a:t>ITEM: ...3AA00AAAU1TKJX...   OK</a:t>
            </a:r>
          </a:p>
          <a:p>
            <a:pPr algn="l">
              <a:defRPr sz="1200" b="1">
                <a:solidFill>
                  <a:srgbClr val="2ECC71"/>
                </a:solidFill>
              </a:defRPr>
            </a:pPr>
            <a:r>
              <a:t>  -&gt; AAA 3개 정확 인식!!</a:t>
            </a:r>
          </a:p>
          <a:p>
            <a:pPr algn="l">
              <a:defRPr sz="1300" b="0">
                <a:solidFill>
                  <a:srgbClr val="2ECC71"/>
                </a:solidFill>
              </a:defRPr>
            </a:pPr>
            <a:r>
              <a:t>Q'TY: 2000 EA               OK</a:t>
            </a:r>
          </a:p>
          <a:p>
            <a:pPr algn="l">
              <a:defRPr sz="1300" b="0">
                <a:solidFill>
                  <a:srgbClr val="2ECC71"/>
                </a:solidFill>
              </a:defRPr>
            </a:pPr>
            <a:r>
              <a:t>DATE CODE: 251A              OK</a:t>
            </a:r>
          </a:p>
          <a:p>
            <a:pPr algn="l">
              <a:defRPr sz="1300" b="0">
                <a:solidFill>
                  <a:srgbClr val="2ECC71"/>
                </a:solidFill>
              </a:defRPr>
            </a:pPr>
            <a:r>
              <a:t>PACK DATE: 2022/12/22        OK</a:t>
            </a:r>
          </a:p>
          <a:p>
            <a:pPr algn="l">
              <a:defRPr sz="1300" b="0">
                <a:solidFill>
                  <a:srgbClr val="2ECC71"/>
                </a:solidFill>
              </a:defRPr>
            </a:pPr>
            <a:r>
              <a:t>ASSEMBLED IN KOREA...        OK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2ECC71"/>
                </a:solidFill>
              </a:defRPr>
            </a:pPr>
            <a:r>
              <a:t>전체 정확도: 8/8 필드 (100%)</a:t>
            </a:r>
          </a:p>
          <a:p>
            <a:pPr algn="l">
              <a:defRPr sz="1800" b="1">
                <a:solidFill>
                  <a:srgbClr val="2ECC71"/>
                </a:solidFill>
              </a:defRPr>
            </a:pPr>
            <a:r>
              <a:t>소요 시간: 1.92초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BDBDBD"/>
                </a:solidFill>
              </a:defRPr>
            </a:pPr>
            <a:r>
              <a:t>vs EasyOCR: 62.5%, 0.5초</a:t>
            </a:r>
          </a:p>
          <a:p>
            <a:pPr algn="l">
              <a:defRPr sz="1400" b="0">
                <a:solidFill>
                  <a:srgbClr val="BDBDBD"/>
                </a:solidFill>
              </a:defRPr>
            </a:pPr>
            <a:r>
              <a:t>vs TrOCR: 81.2%, 3.2초</a:t>
            </a:r>
          </a:p>
          <a:p>
            <a:pPr algn="l">
              <a:defRPr sz="1400" b="0">
                <a:solidFill>
                  <a:srgbClr val="BDBDBD"/>
                </a:solidFill>
              </a:defRPr>
            </a:pPr>
            <a:r>
              <a:t>vs RapidOCR: 75%, 2.2초</a:t>
            </a:r>
          </a:p>
          <a:p>
            <a:pPr algn="l">
              <a:defRPr sz="1400" b="1">
                <a:solidFill>
                  <a:srgbClr val="F39C12"/>
                </a:solidFill>
              </a:defRPr>
            </a:pPr>
            <a:r>
              <a:t>-&gt; Qwen이 모든 면에서 우수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4D9"/>
                </a:solidFill>
              </a:defRPr>
            </a:pPr>
            <a:r>
              <a:t>사용 방법 (ocr_server.py)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</a:defRPr>
            </a:pPr>
            <a:r>
              <a:t>Quick Start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# 1. 서버 시작 (최초 1회, ~3초)</a:t>
            </a: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python ocr_server.py --start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# 2. OCR 실행 (이미지 폴더 자동 스캔)</a:t>
            </a: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python ocr_server.py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# 3. 서버 종료</a:t>
            </a:r>
          </a:p>
          <a:p>
            <a:pPr algn="l">
              <a:defRPr sz="1500" b="1">
                <a:solidFill>
                  <a:srgbClr val="FFFFFF"/>
                </a:solidFill>
              </a:defRPr>
            </a:pPr>
            <a:r>
              <a:t>python ocr_server.py --stop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defRPr sz="1600" b="1">
                <a:solidFill>
                  <a:srgbClr val="F39C12"/>
                </a:solidFill>
              </a:defRPr>
            </a:pPr>
            <a:r>
              <a:t>자동 모드: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서버 미실행시 자동으로 시작 후 OCR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image/ 폴더의 모든 이미지 자동 처리</a:t>
            </a:r>
          </a:p>
          <a:p>
            <a:pPr algn="l">
              <a:defRPr sz="1300" b="0">
                <a:solidFill>
                  <a:srgbClr val="BDBDBD"/>
                </a:solidFill>
              </a:defRPr>
            </a:pPr>
            <a:r>
              <a:t>결과: output/ 폴더에 개별 .txt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</a:defRPr>
            </a:pPr>
            <a:r>
              <a:t>최적 설정 (ocr_server.py 내장)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Model: Qwen3.5-2B-Q4_K_M.gguf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Vision: mmproj-F16.gguf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GPU: -ngl 99 (전체 GPU 오프로드)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Flash Attention: -fa on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KV Cache: -ctk q8_0 -ctv q8_0</a:t>
            </a:r>
          </a:p>
          <a:p>
            <a:pPr algn="l">
              <a:defRPr sz="1300" b="0">
                <a:solidFill>
                  <a:srgbClr val="FFFFFF"/>
                </a:solidFill>
              </a:defRPr>
            </a:pPr>
            <a:r>
              <a:t>Port: 18080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defRPr sz="1800" b="1">
                <a:solidFill>
                  <a:srgbClr val="2ECC71"/>
                </a:solidFill>
              </a:defRPr>
            </a:pPr>
            <a:r>
              <a:t>성능 요약</a:t>
            </a:r>
          </a:p>
          <a:p>
            <a:pPr algn="l">
              <a:defRPr sz="600" b="0">
                <a:solidFill>
                  <a:srgbClr val="FFFFFF"/>
                </a:solidFill>
              </a:defRPr>
            </a:pP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첫 시작: ~3초 (모델 로드 + 워밍업)</a:t>
            </a:r>
          </a:p>
          <a:p>
            <a:pPr algn="l">
              <a:defRPr sz="1400" b="1">
                <a:solidFill>
                  <a:srgbClr val="2ECC71"/>
                </a:solidFill>
              </a:defRPr>
            </a:pPr>
            <a:r>
              <a:t>이후 이미지당: 1.5 ~ 2.0초</a:t>
            </a:r>
          </a:p>
          <a:p>
            <a:pPr algn="l">
              <a:defRPr sz="1400" b="1">
                <a:solidFill>
                  <a:srgbClr val="2ECC71"/>
                </a:solidFill>
              </a:defRPr>
            </a:pPr>
            <a:r>
              <a:t>정확도: 100% (8/8 필드)</a:t>
            </a:r>
          </a:p>
          <a:p>
            <a:pPr algn="l">
              <a:defRPr sz="1400" b="0">
                <a:solidFill>
                  <a:srgbClr val="FFFFFF"/>
                </a:solidFill>
              </a:defRPr>
            </a:pPr>
            <a:r>
              <a:t>GPU 메모리: ~4.5 GB / 8 GB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</a:p>
          <a:p>
            <a:pPr algn="l">
              <a:defRPr sz="1400" b="1">
                <a:solidFill>
                  <a:srgbClr val="F39C12"/>
                </a:solidFill>
              </a:defRPr>
            </a:pPr>
            <a:r>
              <a:t>대량 처리시: 이미지당 ~1.6초 안정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