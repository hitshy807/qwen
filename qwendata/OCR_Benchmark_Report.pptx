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EasyOCR Benchmark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BDBDBD"/>
                </a:solidFill>
              </a:defRPr>
            </a:pPr>
            <a:r>
              <a:t>SK Hynix 반도체 라벨 OCR 정확도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74D9"/>
                </a:solidFill>
              </a:defRPr>
            </a:pPr>
            <a:r>
              <a:t>Ground Truth: Qwen3.5-2B LLM OCR 결과 (검증 완료)</a:t>
            </a:r>
          </a:p>
          <a:p>
            <a:pPr algn="ctr">
              <a:defRPr sz="1600" b="0">
                <a:solidFill>
                  <a:srgbClr val="0074D9"/>
                </a:solidFill>
              </a:defRPr>
            </a:pPr>
            <a:r>
              <a:t>테스트 이미지: Bilinear 1/4 Resize (1032x656)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2000" b="1">
                <a:solidFill>
                  <a:srgbClr val="2ECC71"/>
                </a:solidFill>
              </a:defRPr>
            </a:pPr>
            <a:r>
              <a:t>EasyOCR 1.7.2 (GPU, CRAFT + CRNN)</a:t>
            </a:r>
          </a:p>
          <a:p>
            <a:pPr algn="ctr">
              <a:defRPr sz="1000" b="0">
                <a:solidFill>
                  <a:srgbClr val="FFFFFF"/>
                </a:solidFill>
              </a:defRPr>
            </a:pPr>
          </a:p>
          <a:p>
            <a:pPr algn="ctr">
              <a:defRPr sz="1600" b="0">
                <a:solidFill>
                  <a:srgbClr val="F39C12"/>
                </a:solidFill>
              </a:defRPr>
            </a:pPr>
            <a:r>
              <a:t>3가지 전처리 변형 | OCR vs GT 필드별 비교 | 0.5~0.7초 추론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테스트 환경 및 대상 이미지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</a:defRPr>
            </a:pPr>
            <a:r>
              <a:t>EasyOCR 구성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Engine: EasyOCR 1.7.2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Detection: CRAFT (Character-Region Awareness)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Recognition: CRNN + CTC Decoder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Language: English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GPU: NVIDIA RTX 5060 (CUDA)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2000" b="1">
                <a:solidFill>
                  <a:srgbClr val="F39C12"/>
                </a:solidFill>
              </a:defRPr>
            </a:pPr>
            <a:r>
              <a:t>3가지 전처리 변형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1) Quarter: 1/4 bilinear 이미지 그대로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2) Upscale 2x: INTER_CUBIC 2배 확대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3) CLAHE: 2배 확대 + 적응적 히스토그램 평활화</a:t>
            </a:r>
          </a:p>
        </p:txBody>
      </p:sp>
      <p:pic>
        <p:nvPicPr>
          <p:cNvPr id="4" name="Picture 3" descr="cropped_quarter_bi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</a:defRPr>
            </a:pPr>
            <a:r>
              <a:t>Ground Truth (Qwen3.5-2B OCR 검증 결과)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SUPPLIER: SK hynix | DEVICE: HN8T062EHKX039R | LOT NO: 5QQAM42QC-14X(1/2)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ITEM: 402880-04W(A3-3AA00AAAU1TKJX-5AXCCXX-GAYI)-A002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Q'TY: 2000 EA | DATE CODE: 251A | PACK DATE: 2022/12/22 | ASSEMBLED IN KOREA...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74D9"/>
                </a:solidFill>
              </a:defRPr>
            </a:pPr>
            <a:r>
              <a:t>OCR vs GT 비교 (1) Quarter 원본 — 0.519초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</a:defRPr>
            </a:pPr>
            <a:r>
              <a:t>가장 빠름 | 62.5% 정확도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  <a:gridCol w="3840480"/>
                <a:gridCol w="219456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Ground Truth (Qwen)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EasyOCR 결과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판정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SUPPLIER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SK hynix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SK hynix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HN8T062EHKX039R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HN8TO62EHKXO39R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39C12"/>
                          </a:solidFill>
                        </a:defRPr>
                      </a:pPr>
                      <a:r>
                        <a:t>PARTIAL - 0→O 혼동 (T062→TO62, 039R→O39R)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LOT NO.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5QQAM42QC-14X(1/2)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SQ0AM42C _ 14X( 1/2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- 5QQAM→SQ0AM, 42QC→42C, 구조 깨짐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402880-04W(A3-3AA00AAAU1TKJX -5AXCCXX-GAYI)-A002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402880 CWA3_ ZAAOQAAAUITKJX GAXCCXX _ GAYI)-AOO?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- 04W→CW, 3AA00→ZAAOQ, A002→AOO?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Q'TY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2000 EA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2000 EA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DATE CODE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251A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251A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PACK DATE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2022/12/22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2022/12/22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ASSEMBLED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ASSEMBLED IN KOREA FROM WAFER FABRICATED IN KOREA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ASSEMBLED IN KOREA FROM WAFER FABRICA TED IN KOREA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39C12"/>
                          </a:solidFill>
                        </a:defRPr>
                      </a:pPr>
                      <a:r>
                        <a:t>PARTIAL - FABRICATED→FABRICA TED (띄어쓰기)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</a:defRPr>
            </a:pPr>
            <a:r>
              <a:t>주요 오류: 0/O 혼동 (DEVICE), 복잡한 영숫자 코드 실패 (LOT NO, ITEM)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74D9"/>
                </a:solidFill>
              </a:defRPr>
            </a:pPr>
            <a:r>
              <a:t>OCR vs GT 비교 (2) Upscale 2x — 0.733초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56.2% 정확도 — 오히려 하락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  <a:gridCol w="3840480"/>
                <a:gridCol w="219456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Ground Truth (Qwen)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EasyOCR 결과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판정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SUPPLIER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SK hynix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SK hynix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HN8T062EHKX039R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HN8TO62EHKXO39R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39C12"/>
                          </a:solidFill>
                        </a:defRPr>
                      </a:pPr>
                      <a:r>
                        <a:t>PARTIAL - 0→O 혼동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LOT NO.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5QQAM42QC-14X(1/2)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SQQAM4zOC 14X( 1 /2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- 5QQAM42QC→SQQAM4zOC, -14X→14X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402880-04W(A3-3AA00AAAU1TKJX -5AXCCXX-GAYI)-A002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402880- CMA3_ZAAOQAAAUITKJX _ 6AXCCXX_ GAYI)-AOO2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- 04W→CMA, 3AA00→ZAAOQ, 5AX→6AX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Q'TY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2000 EA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?000 EA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- 2000→?000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DATE CODE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251A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251A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PACK DATE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2022/12/22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2022/12/22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ASSEMBLED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ASSEMBLED IN KOREA FROM WAFER FABRICATED IN KOREA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ASSEMBLED IN KOREA FROM WAFER FABRICA TED IN KOREA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39C12"/>
                          </a:solidFill>
                        </a:defRPr>
                      </a:pPr>
                      <a:r>
                        <a:t>PARTIAL - FABRICATED→FABRICA TED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</a:defRPr>
            </a:pPr>
            <a:r>
              <a:t>Upscale로 Q'TY도 실패 (?000). 확대가 CRAFT 검출 경계를 오히려 왜곡시킴.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74D9"/>
                </a:solidFill>
              </a:defRPr>
            </a:pPr>
            <a:r>
              <a:t>OCR vs GT 비교 (3) CLAHE Enhanced — 0.712초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56.2% 정확도 — 개선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  <a:gridCol w="3840480"/>
                <a:gridCol w="219456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필드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Ground Truth (Qwen)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EasyOCR 결과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판정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SUPPLIER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SK hynix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SK hynix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HN8T062EHKX039R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HN8TO62EHKXO39R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39C12"/>
                          </a:solidFill>
                        </a:defRPr>
                      </a:pPr>
                      <a:r>
                        <a:t>PARTIAL - 0→O 혼동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LOT NO.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5QQAM42QC-14X(1/2)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3SOQAM4zOC 14X( 1 /2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- 5QQAM42QC→3SOQAM4zOC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402880-04W(A3-3AA00AAAU1TKJX -5AXCCXX-GAYI)-A002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402880- 04VA3_3AAOQAAAUITKJX _ 6AXCCXX _ GAYI)-AO02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- 04W→04V, 3AA00→3AAOQ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Q'TY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2000 EA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?000 EA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E74C3C"/>
                          </a:solidFill>
                        </a:defRPr>
                      </a:pPr>
                      <a:r>
                        <a:t>FAIL - 2000→?000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DATE CODE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251A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251A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PACK DATE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2022/12/22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2022/12/22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ECC71"/>
                          </a:solidFill>
                        </a:defRPr>
                      </a:pPr>
                      <a:r>
                        <a:t>MATCH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ASSEMBLED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2ECC71"/>
                          </a:solidFill>
                        </a:defRPr>
                      </a:pPr>
                      <a:r>
                        <a:t>ASSEMBLED IN KOREA FROM WAFER FABRICATED IN KOREA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FFFFFF"/>
                          </a:solidFill>
                        </a:defRPr>
                      </a:pPr>
                      <a:r>
                        <a:t>ASSEMBLED IN KOREA FROM WAFER FABRICA TED IN KOREA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F39C12"/>
                          </a:solidFill>
                        </a:defRPr>
                      </a:pPr>
                      <a:r>
                        <a:t>PARTIAL - FABRICATED→FABRICA TED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</a:defRPr>
            </a:pPr>
            <a:r>
              <a:t>CLAHE 전처리도 효과 없음. LOT NO에 '3S' 잡음 추가됨. 전처리는 이 이미지에 부적합.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74D9"/>
                </a:solidFill>
              </a:defRPr>
            </a:pPr>
            <a:r>
              <a:t>EasyOCR 3가지 변형 종합 비교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  <a:gridCol w="116128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변형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시간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정확도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SUPPLIER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LOT NO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Q'TY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DATE/PACK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ASSEMBLED</a:t>
                      </a:r>
                    </a:p>
                  </a:txBody>
                  <a:tcPr anchor="ctr">
                    <a:solidFill>
                      <a:srgbClr val="00529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Quarter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0.519s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62.5%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Upscale 2x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0.733s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56.2%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 anchor="ctr">
                    <a:solidFill>
                      <a:srgbClr val="2222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CLAHE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0.712s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FFFFFF"/>
                          </a:solidFill>
                        </a:defRPr>
                      </a:pPr>
                      <a:r>
                        <a:t>56.2%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E74C3C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O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9C12"/>
                          </a:solidFill>
                        </a:defRPr>
                      </a:pPr>
                      <a:r>
                        <a:t>~</a:t>
                      </a:r>
                    </a:p>
                  </a:txBody>
                  <a:tcPr anchor="ctr">
                    <a:solidFill>
                      <a:srgbClr val="2A2A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BEST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0.519s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ECC71"/>
                          </a:solidFill>
                        </a:defRPr>
                      </a:pPr>
                      <a:r>
                        <a:t>62.5%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CC71"/>
                          </a:solidFill>
                        </a:defRPr>
                      </a:pPr>
                      <a:r>
                        <a:t>Quarter</a:t>
                      </a: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1A3A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393192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</a:defRPr>
            </a:pPr>
            <a:r>
              <a:t>EasyOCR 주요 오류 패턴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1. 0/O 혼동: T062→TO62, 039R→O39R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 → 숫자 0과 영문 O를 구분 못함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2. 복잡 코드 구조 파괴: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 LOT NO: 5QQAM42QC → SQ0AM42C (완전 다름)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 ITEM: 3AA00AAAU → ZAAOQAAAU (A→Q 오류)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3. 특수문자/구분자 누락:</a:t>
            </a:r>
          </a:p>
          <a:p>
            <a:pPr algn="l">
              <a:defRPr sz="1200" b="0">
                <a:solidFill>
                  <a:srgbClr val="BDBDBD"/>
                </a:solidFill>
              </a:defRPr>
            </a:pPr>
            <a:r>
              <a:t>   괄호, 하이픈, 콜론 등이 무시됨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3931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4D9"/>
                </a:solidFill>
              </a:defRPr>
            </a:pPr>
            <a:r>
              <a:t>vs Qwen3.5-2B (참고)</a:t>
            </a:r>
          </a:p>
          <a:p>
            <a:pPr algn="l">
              <a:defRPr sz="6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2ECC71"/>
                </a:solidFill>
              </a:defRPr>
            </a:pPr>
            <a:r>
              <a:t>Qwen: 3.7초, 8/8 필드 정확 인식</a:t>
            </a:r>
          </a:p>
          <a:p>
            <a:pPr algn="l">
              <a:defRPr sz="1400" b="0">
                <a:solidFill>
                  <a:srgbClr val="F39C12"/>
                </a:solidFill>
              </a:defRPr>
            </a:pPr>
            <a:r>
              <a:t>EasyOCR: 0.5초, 5/8 필드 인식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EasyOCR은 7배 빠르지만</a:t>
            </a:r>
          </a:p>
          <a:p>
            <a:pPr algn="l">
              <a:defRPr sz="1400" b="0">
                <a:solidFill>
                  <a:srgbClr val="FFFFFF"/>
                </a:solidFill>
              </a:defRPr>
            </a:pPr>
            <a:r>
              <a:t>복잡한 영숫자 코드에서 한계가 명확함.</a:t>
            </a:r>
          </a:p>
          <a:p>
            <a:pPr algn="l">
              <a:defRPr sz="800" b="0">
                <a:solidFill>
                  <a:srgbClr val="FFFFFF"/>
                </a:solidFill>
              </a:defRPr>
            </a:pPr>
          </a:p>
          <a:p>
            <a:pPr algn="l">
              <a:defRPr sz="1400" b="1">
                <a:solidFill>
                  <a:srgbClr val="2ECC71"/>
                </a:solidFill>
              </a:defRPr>
            </a:pPr>
            <a:r>
              <a:t>결론: 단순 필드(SUPPLIER, Q'TY, DATE)는 OK</a:t>
            </a:r>
          </a:p>
          <a:p>
            <a:pPr algn="l">
              <a:defRPr sz="1400" b="1">
                <a:solidFill>
                  <a:srgbClr val="E74C3C"/>
                </a:solidFill>
              </a:defRPr>
            </a:pPr>
            <a:r>
              <a:t>반도체 코드(DEVICE, LOT, ITEM)는 부족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