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Qwen3.5 OCR 시스템 보고서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55448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0074D9"/>
                </a:solidFill>
              </a:defRPr>
            </a:pPr>
            <a:r>
              <a:t>오픈소스 LLM 기반 반도체 라벨 OCR | 0.8B vs 2B 평가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332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CC71"/>
                </a:solidFill>
              </a:defRPr>
            </a:pPr>
            <a:r>
              <a:t>Qwen3.5-2B: 1.56초/장, 기본설정 100% 정확 (현재 채택)</a:t>
            </a:r>
          </a:p>
          <a:p>
            <a:pPr algn="ctr">
              <a:defRPr sz="1800" b="0">
                <a:solidFill>
                  <a:srgbClr val="F39C12"/>
                </a:solidFill>
              </a:defRPr>
            </a:pPr>
            <a:r>
              <a:t>Qwen3.5-0.8B: 1.25초/장, 파라미터 조정시 정확 (도입 보류)</a:t>
            </a:r>
          </a:p>
          <a:p>
            <a:pPr algn="ctr">
              <a:defRPr sz="1400" b="0">
                <a:solidFill>
                  <a:srgbClr val="FFFFFF"/>
                </a:solidFill>
              </a:defRPr>
            </a:pPr>
          </a:p>
          <a:p>
            <a:pPr algn="ctr">
              <a:defRPr sz="1600" b="0">
                <a:solidFill>
                  <a:srgbClr val="BDBDBD"/>
                </a:solidFill>
              </a:defRPr>
            </a:pPr>
            <a:r>
              <a:t>llama.cpp Server Mode  |  GGUF 양자화  |  Flash Attention</a:t>
            </a:r>
          </a:p>
          <a:p>
            <a:pPr algn="ctr">
              <a:defRPr sz="1400" b="0">
                <a:solidFill>
                  <a:srgbClr val="FFFFFF"/>
                </a:solidFill>
              </a:defRPr>
            </a:pPr>
          </a:p>
          <a:p>
            <a:pPr algn="ctr">
              <a:defRPr sz="1600" b="1">
                <a:solidFill>
                  <a:srgbClr val="0074D9"/>
                </a:solidFill>
              </a:defRPr>
            </a:pPr>
            <a:r>
              <a:t>테스트 환경</a:t>
            </a:r>
          </a:p>
          <a:p>
            <a:pPr algn="ctr">
              <a:defRPr sz="1500" b="0">
                <a:solidFill>
                  <a:srgbClr val="FFFFFF"/>
                </a:solidFill>
              </a:defRPr>
            </a:pPr>
            <a:r>
              <a:t>MSI Katana 17 HX B14WFK</a:t>
            </a:r>
          </a:p>
          <a:p>
            <a:pPr algn="ctr">
              <a:defRPr sz="1400" b="0">
                <a:solidFill>
                  <a:srgbClr val="BDBDBD"/>
                </a:solidFill>
              </a:defRPr>
            </a:pPr>
            <a:r>
              <a:t>Intel Core i7-14650HX  |  64GB DDR5  |  1TB NVMe SSD</a:t>
            </a:r>
          </a:p>
          <a:p>
            <a:pPr algn="ctr">
              <a:defRPr sz="1400" b="0">
                <a:solidFill>
                  <a:srgbClr val="BDBDBD"/>
                </a:solidFill>
              </a:defRPr>
            </a:pPr>
            <a:r>
              <a:t>NVIDIA GeForce RTX 5060 Laptop GPU (8GB GDDR7)</a:t>
            </a:r>
          </a:p>
          <a:p>
            <a:pPr algn="ctr">
              <a:defRPr sz="1400" b="0">
                <a:solidFill>
                  <a:srgbClr val="BDBDBD"/>
                </a:solidFill>
              </a:defRPr>
            </a:pPr>
            <a:r>
              <a:t>Windows 11 Pro  |  CUDA 13.0  |  llama.cpp build 8194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4D9"/>
                </a:solidFill>
              </a:defRPr>
            </a:pPr>
            <a:r>
              <a:t>Qwen3.5: 오픈소스 최강 멀티모달 LLM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CC71"/>
                </a:solidFill>
              </a:defRPr>
            </a:pPr>
            <a:r>
              <a:t>Qwen3.5-397B (Flagship)</a:t>
            </a:r>
          </a:p>
          <a:p>
            <a:pPr algn="l">
              <a:defRPr sz="800" b="0">
                <a:solidFill>
                  <a:srgbClr val="FFFFFF"/>
                </a:solidFill>
              </a:defRPr>
            </a:pPr>
          </a:p>
          <a:p>
            <a:pPr algn="l">
              <a:defRPr sz="1600" b="1">
                <a:solidFill>
                  <a:srgbClr val="FFFFFF"/>
                </a:solidFill>
              </a:defRPr>
            </a:pPr>
            <a:r>
              <a:t>397B 파라미터 오픈소스 LLM</a:t>
            </a: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Apache 2.0 라이선스 - 상업적 사용 가능</a:t>
            </a:r>
          </a:p>
          <a:p>
            <a:pPr algn="l">
              <a:defRPr sz="800" b="0">
                <a:solidFill>
                  <a:srgbClr val="FFFFFF"/>
                </a:solidFill>
              </a:defRPr>
            </a:pPr>
          </a:p>
          <a:p>
            <a:pPr algn="l">
              <a:defRPr sz="1600" b="1">
                <a:solidFill>
                  <a:srgbClr val="FFD700"/>
                </a:solidFill>
              </a:defRPr>
            </a:pPr>
            <a:r>
              <a:t>성능: ChatGPT-5.2를 상회</a:t>
            </a:r>
          </a:p>
          <a:p>
            <a:pPr algn="l">
              <a:defRPr sz="1300" b="0">
                <a:solidFill>
                  <a:srgbClr val="FFFFFF"/>
                </a:solidFill>
              </a:defRPr>
            </a:pPr>
            <a:r>
              <a:t>  MMLU-Pro, GPQA, MATH 등 주요 벤치마크</a:t>
            </a:r>
          </a:p>
          <a:p>
            <a:pPr algn="l">
              <a:defRPr sz="1300" b="0">
                <a:solidFill>
                  <a:srgbClr val="FFFFFF"/>
                </a:solidFill>
              </a:defRPr>
            </a:pPr>
            <a:r>
              <a:t>  멀티모달 (텍스트 + 이미지 + 비디오)</a:t>
            </a:r>
          </a:p>
          <a:p>
            <a:pPr algn="l">
              <a:defRPr sz="1300" b="0">
                <a:solidFill>
                  <a:srgbClr val="FFFFFF"/>
                </a:solidFill>
              </a:defRPr>
            </a:pPr>
            <a:r>
              <a:t>  262K 컨텍스트 길이</a:t>
            </a:r>
          </a:p>
          <a:p>
            <a:pPr algn="l">
              <a:defRPr sz="1000" b="0">
                <a:solidFill>
                  <a:srgbClr val="FFFFFF"/>
                </a:solidFill>
              </a:defRPr>
            </a:pPr>
          </a:p>
          <a:p>
            <a:pPr algn="l">
              <a:defRPr sz="1600" b="1">
                <a:solidFill>
                  <a:srgbClr val="F39C12"/>
                </a:solidFill>
              </a:defRPr>
            </a:pPr>
            <a:r>
              <a:t>오픈소스 LLM이 상용 모델을</a:t>
            </a:r>
          </a:p>
          <a:p>
            <a:pPr algn="l">
              <a:defRPr sz="1600" b="1">
                <a:solidFill>
                  <a:srgbClr val="F39C12"/>
                </a:solidFill>
              </a:defRPr>
            </a:pPr>
            <a:r>
              <a:t>넘어선 역사적 전환점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09728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39C12"/>
                </a:solidFill>
              </a:defRPr>
            </a:pPr>
            <a:r>
              <a:t>Knowledge Distillation</a:t>
            </a:r>
          </a:p>
          <a:p>
            <a:pPr algn="l">
              <a:defRPr sz="800" b="0">
                <a:solidFill>
                  <a:srgbClr val="FFFFFF"/>
                </a:solidFill>
              </a:defRPr>
            </a:pPr>
          </a:p>
          <a:p>
            <a:pPr algn="l">
              <a:defRPr sz="1600" b="0">
                <a:solidFill>
                  <a:srgbClr val="FFFFFF"/>
                </a:solidFill>
              </a:defRPr>
            </a:pPr>
            <a:r>
              <a:t>397B 대규모 모델의 지식을</a:t>
            </a:r>
          </a:p>
          <a:p>
            <a:pPr algn="l">
              <a:defRPr sz="1600" b="0">
                <a:solidFill>
                  <a:srgbClr val="FFFFFF"/>
                </a:solidFill>
              </a:defRPr>
            </a:pPr>
            <a:r>
              <a:t>소형 모델에 증류(Distillation)</a:t>
            </a:r>
          </a:p>
          <a:p>
            <a:pPr algn="l">
              <a:defRPr sz="1000" b="0">
                <a:solidFill>
                  <a:srgbClr val="FFFFFF"/>
                </a:solidFill>
              </a:defRPr>
            </a:pPr>
          </a:p>
          <a:p>
            <a:pPr algn="ctr">
              <a:defRPr sz="2800" b="1">
                <a:solidFill>
                  <a:srgbClr val="2ECC71"/>
                </a:solidFill>
              </a:defRPr>
            </a:pPr>
            <a:r>
              <a:t>397B</a:t>
            </a:r>
          </a:p>
          <a:p>
            <a:pPr algn="ctr">
              <a:defRPr sz="1400" b="0">
                <a:solidFill>
                  <a:srgbClr val="BDBDBD"/>
                </a:solidFill>
              </a:defRPr>
            </a:pPr>
            <a:r>
              <a:t>  |  distillation</a:t>
            </a:r>
          </a:p>
          <a:p>
            <a:pPr algn="ctr">
              <a:defRPr sz="1800" b="1">
                <a:solidFill>
                  <a:srgbClr val="0074D9"/>
                </a:solidFill>
              </a:defRPr>
            </a:pPr>
            <a:r>
              <a:t>30B / 14B / 8B / 4B / 2B / 0.8B</a:t>
            </a:r>
          </a:p>
          <a:p>
            <a:pPr algn="l">
              <a:defRPr sz="1400" b="0">
                <a:solidFill>
                  <a:srgbClr val="FFFFFF"/>
                </a:solidFill>
              </a:defRPr>
            </a:pPr>
          </a:p>
          <a:p>
            <a:pPr algn="l">
              <a:defRPr sz="1500" b="1">
                <a:solidFill>
                  <a:srgbClr val="FFFFFF"/>
                </a:solidFill>
              </a:defRPr>
            </a:pPr>
            <a:r>
              <a:t>본 프로젝트에서 사용하는 모델:</a:t>
            </a:r>
          </a:p>
          <a:p>
            <a:pPr algn="l">
              <a:defRPr sz="600" b="0">
                <a:solidFill>
                  <a:srgbClr val="FFFFFF"/>
                </a:solidFill>
              </a:defRPr>
            </a:pPr>
          </a:p>
          <a:p>
            <a:pPr algn="l">
              <a:defRPr sz="1600" b="1">
                <a:solidFill>
                  <a:srgbClr val="2ECC71"/>
                </a:solidFill>
              </a:defRPr>
            </a:pPr>
            <a:r>
              <a:t>Qwen3.5-2B (현재 채택)</a:t>
            </a:r>
          </a:p>
          <a:p>
            <a:pPr algn="l">
              <a:defRPr sz="1300" b="0">
                <a:solidFill>
                  <a:srgbClr val="BDBDBD"/>
                </a:solidFill>
              </a:defRPr>
            </a:pPr>
            <a:r>
              <a:t>  397B의 지식을 2B에 증류</a:t>
            </a:r>
          </a:p>
          <a:p>
            <a:pPr algn="l">
              <a:defRPr sz="1300" b="0">
                <a:solidFill>
                  <a:srgbClr val="BDBDBD"/>
                </a:solidFill>
              </a:defRPr>
            </a:pPr>
            <a:r>
              <a:t>  노트북 GPU에서 실시간 추론 가능</a:t>
            </a:r>
          </a:p>
          <a:p>
            <a:pPr algn="l">
              <a:defRPr sz="600" b="0">
                <a:solidFill>
                  <a:srgbClr val="FFFFFF"/>
                </a:solidFill>
              </a:defRPr>
            </a:pPr>
          </a:p>
          <a:p>
            <a:pPr algn="l">
              <a:defRPr sz="1600" b="1">
                <a:solidFill>
                  <a:srgbClr val="F39C12"/>
                </a:solidFill>
              </a:defRPr>
            </a:pPr>
            <a:r>
              <a:t>Qwen3.5-0.8B (평가 대상)</a:t>
            </a:r>
          </a:p>
          <a:p>
            <a:pPr algn="l">
              <a:defRPr sz="1300" b="0">
                <a:solidFill>
                  <a:srgbClr val="BDBDBD"/>
                </a:solidFill>
              </a:defRPr>
            </a:pPr>
            <a:r>
              <a:t>  더 작은 모델로 속도 향상 시도</a:t>
            </a:r>
          </a:p>
          <a:p>
            <a:pPr algn="l">
              <a:defRPr sz="1300" b="0">
                <a:solidFill>
                  <a:srgbClr val="BDBDBD"/>
                </a:solidFill>
              </a:defRPr>
            </a:pPr>
            <a:r>
              <a:t>  800M 파라미터, 하이브리드 아키텍처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4D9"/>
                </a:solidFill>
              </a:defRPr>
            </a:pPr>
            <a:r>
              <a:t>검사 대상 이미지</a:t>
            </a:r>
          </a:p>
        </p:txBody>
      </p:sp>
      <p:pic>
        <p:nvPicPr>
          <p:cNvPr id="3" name="Picture 2" descr="cropped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5943600" cy="377915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0" y="1188720"/>
            <a:ext cx="4572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SK Hynix 반도체 라벨</a:t>
            </a:r>
          </a:p>
          <a:p>
            <a:pPr algn="l">
              <a:defRPr sz="1000" b="0">
                <a:solidFill>
                  <a:srgbClr val="FFFFFF"/>
                </a:solidFill>
              </a:defRPr>
            </a:pPr>
          </a:p>
          <a:p>
            <a:pPr algn="l">
              <a:defRPr sz="1800" b="1">
                <a:solidFill>
                  <a:srgbClr val="F39C12"/>
                </a:solidFill>
              </a:defRPr>
            </a:pPr>
            <a:r>
              <a:t>가장 글자가 많고</a:t>
            </a:r>
          </a:p>
          <a:p>
            <a:pPr algn="l">
              <a:defRPr sz="1800" b="1">
                <a:solidFill>
                  <a:srgbClr val="F39C12"/>
                </a:solidFill>
              </a:defRPr>
            </a:pPr>
            <a:r>
              <a:t>인쇄불량까지 있는 이미지</a:t>
            </a:r>
          </a:p>
          <a:p>
            <a:pPr algn="l">
              <a:defRPr sz="1200" b="0">
                <a:solidFill>
                  <a:srgbClr val="FFFFFF"/>
                </a:solidFill>
              </a:defRPr>
            </a:pPr>
          </a:p>
          <a:p>
            <a:pPr algn="l">
              <a:defRPr sz="1500" b="1">
                <a:solidFill>
                  <a:srgbClr val="FFFFFF"/>
                </a:solidFill>
              </a:defRPr>
            </a:pPr>
            <a:r>
              <a:t>주요 필드:</a:t>
            </a:r>
          </a:p>
          <a:p>
            <a:pPr algn="l">
              <a:defRPr sz="1300" b="0">
                <a:solidFill>
                  <a:srgbClr val="BDBDBD"/>
                </a:solidFill>
              </a:defRPr>
            </a:pPr>
            <a:r>
              <a:t>  SUPPLIER: SK hynix</a:t>
            </a:r>
          </a:p>
          <a:p>
            <a:pPr algn="l">
              <a:defRPr sz="1300" b="0">
                <a:solidFill>
                  <a:srgbClr val="BDBDBD"/>
                </a:solidFill>
              </a:defRPr>
            </a:pPr>
            <a:r>
              <a:t>  DEVICE: HN8T062EHKX039R</a:t>
            </a:r>
          </a:p>
          <a:p>
            <a:pPr algn="l">
              <a:defRPr sz="1300" b="0">
                <a:solidFill>
                  <a:srgbClr val="BDBDBD"/>
                </a:solidFill>
              </a:defRPr>
            </a:pPr>
            <a:r>
              <a:t>  LOT NO: 5QQAM42QC-14X(1/2)</a:t>
            </a:r>
          </a:p>
          <a:p>
            <a:pPr algn="l">
              <a:defRPr sz="1300" b="1">
                <a:solidFill>
                  <a:srgbClr val="2ECC71"/>
                </a:solidFill>
              </a:defRPr>
            </a:pPr>
            <a:r>
              <a:t>  ITEM: 3AA00AAAU1TKJX</a:t>
            </a:r>
          </a:p>
          <a:p>
            <a:pPr algn="l">
              <a:defRPr sz="1300" b="0">
                <a:solidFill>
                  <a:srgbClr val="BDBDBD"/>
                </a:solidFill>
              </a:defRPr>
            </a:pPr>
            <a:r>
              <a:t>  Q'TY: 2000 EA</a:t>
            </a:r>
          </a:p>
          <a:p>
            <a:pPr algn="l">
              <a:defRPr sz="1300" b="0">
                <a:solidFill>
                  <a:srgbClr val="BDBDBD"/>
                </a:solidFill>
              </a:defRPr>
            </a:pPr>
            <a:r>
              <a:t>  + 바코드 2개, 인증마크 3개</a:t>
            </a:r>
          </a:p>
          <a:p>
            <a:pPr algn="l">
              <a:defRPr sz="1000" b="0">
                <a:solidFill>
                  <a:srgbClr val="FFFFFF"/>
                </a:solidFill>
              </a:defRPr>
            </a:pPr>
          </a:p>
          <a:p>
            <a:pPr algn="l">
              <a:defRPr sz="1500" b="1">
                <a:solidFill>
                  <a:srgbClr val="E74C3C"/>
                </a:solidFill>
              </a:defRPr>
            </a:pPr>
            <a:r>
              <a:t>OCR 난이도:</a:t>
            </a:r>
          </a:p>
          <a:p>
            <a:pPr algn="l">
              <a:defRPr sz="1300" b="0">
                <a:solidFill>
                  <a:srgbClr val="FFFFFF"/>
                </a:solidFill>
              </a:defRPr>
            </a:pPr>
            <a:r>
              <a:t>  - 반복 문자: AAA (3개) 정확 인식 필요</a:t>
            </a:r>
          </a:p>
          <a:p>
            <a:pPr algn="l">
              <a:defRPr sz="1300" b="0">
                <a:solidFill>
                  <a:srgbClr val="FFFFFF"/>
                </a:solidFill>
              </a:defRPr>
            </a:pPr>
            <a:r>
              <a:t>  - 인쇄불량으로 문자 경계 불명확</a:t>
            </a:r>
          </a:p>
          <a:p>
            <a:pPr algn="l">
              <a:defRPr sz="1300" b="0">
                <a:solidFill>
                  <a:srgbClr val="FFFFFF"/>
                </a:solidFill>
              </a:defRPr>
            </a:pPr>
            <a:r>
              <a:t>  - 다양한 폰트/크기 혼재</a:t>
            </a:r>
          </a:p>
          <a:p>
            <a:pPr algn="l">
              <a:defRPr sz="1300" b="0">
                <a:solidFill>
                  <a:srgbClr val="FFFFFF"/>
                </a:solidFill>
              </a:defRPr>
            </a:pPr>
            <a:r>
              <a:t>  - 바코드와 텍스트 영역 혼합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4D9"/>
                </a:solidFill>
              </a:defRPr>
            </a:pPr>
            <a:r>
              <a:t>테스트 환경 및 시스템 구성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50292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</a:tblGrid>
              <a:tr h="587828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하드웨어</a:t>
                      </a:r>
                    </a:p>
                  </a:txBody>
                  <a:tcPr anchor="ctr">
                    <a:solidFill>
                      <a:srgbClr val="0052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사양</a:t>
                      </a:r>
                    </a:p>
                  </a:txBody>
                  <a:tcPr anchor="ctr">
                    <a:solidFill>
                      <a:srgbClr val="005299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39C12"/>
                          </a:solidFill>
                        </a:defRPr>
                      </a:pPr>
                      <a:r>
                        <a:t>노트북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FFFFFF"/>
                          </a:solidFill>
                        </a:defRPr>
                      </a:pPr>
                      <a:r>
                        <a:t>MSI Katana 17 HX B14WFK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39C12"/>
                          </a:solidFill>
                        </a:defRPr>
                      </a:pPr>
                      <a:r>
                        <a:t>CPU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FFFFFF"/>
                          </a:solidFill>
                        </a:defRPr>
                      </a:pPr>
                      <a:r>
                        <a:t>Intel Core i7-14650HX (16C/24T)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39C12"/>
                          </a:solidFill>
                        </a:defRPr>
                      </a:pPr>
                      <a:r>
                        <a:t>RAM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FFFFFF"/>
                          </a:solidFill>
                        </a:defRPr>
                      </a:pPr>
                      <a:r>
                        <a:t>64GB DDR5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39C12"/>
                          </a:solidFill>
                        </a:defRPr>
                      </a:pPr>
                      <a:r>
                        <a:t>GPU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FFFFFF"/>
                          </a:solidFill>
                        </a:defRPr>
                      </a:pPr>
                      <a:r>
                        <a:t>NVIDIA RTX 5060 Laptop (8GB GDDR7)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39C12"/>
                          </a:solidFill>
                        </a:defRPr>
                      </a:pPr>
                      <a:r>
                        <a:t>Storage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FFFFFF"/>
                          </a:solidFill>
                        </a:defRPr>
                      </a:pPr>
                      <a:r>
                        <a:t>1TB NVMe PCIe SSD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</a:tr>
              <a:tr h="587832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39C12"/>
                          </a:solidFill>
                        </a:defRPr>
                      </a:pPr>
                      <a:r>
                        <a:t>OS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FFFFFF"/>
                          </a:solidFill>
                        </a:defRPr>
                      </a:pPr>
                      <a:r>
                        <a:t>Windows 11 Pro (Build 26200)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943600" y="109728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CC71"/>
                </a:solidFill>
              </a:defRPr>
            </a:pPr>
            <a:r>
              <a:t>소프트웨어 스택</a:t>
            </a:r>
          </a:p>
          <a:p>
            <a:pPr algn="l">
              <a:defRPr sz="800" b="0">
                <a:solidFill>
                  <a:srgbClr val="FFFFFF"/>
                </a:solidFill>
              </a:defRPr>
            </a:pP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추론 엔진: llama.cpp (build 8194)</a:t>
            </a:r>
          </a:p>
          <a:p>
            <a:pPr algn="l">
              <a:defRPr sz="1300" b="0">
                <a:solidFill>
                  <a:srgbClr val="BDBDBD"/>
                </a:solidFill>
              </a:defRPr>
            </a:pPr>
            <a:r>
              <a:t>  llama-server HTTP API (persistent mode)</a:t>
            </a:r>
          </a:p>
          <a:p>
            <a:pPr algn="l">
              <a:defRPr sz="1300" b="0">
                <a:solidFill>
                  <a:srgbClr val="BDBDBD"/>
                </a:solidFill>
              </a:defRPr>
            </a:pPr>
            <a:r>
              <a:t>  CUDA 13.0, Compute Capability 12.0 (Blackwell)</a:t>
            </a:r>
          </a:p>
          <a:p>
            <a:pPr algn="l">
              <a:defRPr sz="800" b="0">
                <a:solidFill>
                  <a:srgbClr val="FFFFFF"/>
                </a:solidFill>
              </a:defRPr>
            </a:pP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GGUF 양자화 포맷</a:t>
            </a:r>
          </a:p>
          <a:p>
            <a:pPr algn="l">
              <a:defRPr sz="1300" b="0">
                <a:solidFill>
                  <a:srgbClr val="BDBDBD"/>
                </a:solidFill>
              </a:defRPr>
            </a:pPr>
            <a:r>
              <a:t>  Q8_0: 8-bit 양자화 (높은 정확도)</a:t>
            </a:r>
          </a:p>
          <a:p>
            <a:pPr algn="l">
              <a:defRPr sz="1300" b="0">
                <a:solidFill>
                  <a:srgbClr val="BDBDBD"/>
                </a:solidFill>
              </a:defRPr>
            </a:pPr>
            <a:r>
              <a:t>  Q4_K_M: 4-bit 양자화 (속도 우선)</a:t>
            </a:r>
          </a:p>
          <a:p>
            <a:pPr algn="l">
              <a:defRPr sz="800" b="0">
                <a:solidFill>
                  <a:srgbClr val="FFFFFF"/>
                </a:solidFill>
              </a:defRPr>
            </a:pP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최적화 설정</a:t>
            </a:r>
          </a:p>
          <a:p>
            <a:pPr algn="l">
              <a:defRPr sz="1300" b="0">
                <a:solidFill>
                  <a:srgbClr val="BDBDBD"/>
                </a:solidFill>
              </a:defRPr>
            </a:pPr>
            <a:r>
              <a:t>  Flash Attention (-fa on)</a:t>
            </a:r>
          </a:p>
          <a:p>
            <a:pPr algn="l">
              <a:defRPr sz="1300" b="0">
                <a:solidFill>
                  <a:srgbClr val="BDBDBD"/>
                </a:solidFill>
              </a:defRPr>
            </a:pPr>
            <a:r>
              <a:t>  KV Cache 양자화 (-ctk q8_0 -ctv q8_0)</a:t>
            </a:r>
          </a:p>
          <a:p>
            <a:pPr algn="l">
              <a:defRPr sz="1300" b="0">
                <a:solidFill>
                  <a:srgbClr val="BDBDBD"/>
                </a:solidFill>
              </a:defRPr>
            </a:pPr>
            <a:r>
              <a:t>  전체 GPU 오프로드 (-ngl 99)</a:t>
            </a:r>
          </a:p>
          <a:p>
            <a:pPr algn="l">
              <a:defRPr sz="800" b="0">
                <a:solidFill>
                  <a:srgbClr val="FFFFFF"/>
                </a:solidFill>
              </a:defRPr>
            </a:pP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이미지 전처리: OpenCV</a:t>
            </a:r>
          </a:p>
          <a:p>
            <a:pPr algn="l">
              <a:defRPr sz="1300" b="0">
                <a:solidFill>
                  <a:srgbClr val="BDBDBD"/>
                </a:solidFill>
              </a:defRPr>
            </a:pPr>
            <a:r>
              <a:t>  흰색 라벨 영역 자동 크롭</a:t>
            </a:r>
          </a:p>
          <a:p>
            <a:pPr algn="l">
              <a:defRPr sz="1300" b="0">
                <a:solidFill>
                  <a:srgbClr val="BDBDBD"/>
                </a:solidFill>
              </a:defRPr>
            </a:pPr>
            <a:r>
              <a:t>  Bilinear 1/4 리사이즈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4D9"/>
                </a:solidFill>
              </a:defRPr>
            </a:pPr>
            <a:r>
              <a:t>기존 OCR 기법 비교 -&gt; Qwen3.5 선택 배경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112471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OCR 엔진</a:t>
                      </a:r>
                    </a:p>
                  </a:txBody>
                  <a:tcPr anchor="ctr">
                    <a:solidFill>
                      <a:srgbClr val="0052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방식</a:t>
                      </a:r>
                    </a:p>
                  </a:txBody>
                  <a:tcPr anchor="ctr">
                    <a:solidFill>
                      <a:srgbClr val="0052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속도</a:t>
                      </a:r>
                    </a:p>
                  </a:txBody>
                  <a:tcPr anchor="ctr">
                    <a:solidFill>
                      <a:srgbClr val="0052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ITEM 정확도</a:t>
                      </a:r>
                    </a:p>
                  </a:txBody>
                  <a:tcPr anchor="ctr">
                    <a:solidFill>
                      <a:srgbClr val="0052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총평</a:t>
                      </a:r>
                    </a:p>
                  </a:txBody>
                  <a:tcPr anchor="ctr">
                    <a:solidFill>
                      <a:srgbClr val="00529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EasyOCR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CRAFT + CRNN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0.5s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E74C3C"/>
                          </a:solidFill>
                        </a:defRPr>
                      </a:pPr>
                      <a:r>
                        <a:t>62.5% (AAA 구간 실패)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E74C3C"/>
                          </a:solidFill>
                        </a:defRPr>
                      </a:pPr>
                      <a:r>
                        <a:t>빠르지만 부정확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TrOCR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ViT + RoBERTa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3.2s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E74C3C"/>
                          </a:solidFill>
                        </a:defRPr>
                      </a:pPr>
                      <a:r>
                        <a:t>81.2% (부분 인식)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E74C3C"/>
                          </a:solidFill>
                        </a:defRPr>
                      </a:pPr>
                      <a:r>
                        <a:t>느리고 부정확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RapidOCR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DB + SVTR (ONNX)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2.2s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E74C3C"/>
                          </a:solidFill>
                        </a:defRPr>
                      </a:pPr>
                      <a:r>
                        <a:t>75.0% (문자 혼동)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E74C3C"/>
                          </a:solidFill>
                        </a:defRPr>
                      </a:pPr>
                      <a:r>
                        <a:t>느리고 부정확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Qwen3.5-2B</a:t>
                      </a:r>
                    </a:p>
                  </a:txBody>
                  <a:tcPr anchor="ctr">
                    <a:solidFill>
                      <a:srgbClr val="1A3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LLM 멀티모달</a:t>
                      </a:r>
                    </a:p>
                  </a:txBody>
                  <a:tcPr anchor="ctr">
                    <a:solidFill>
                      <a:srgbClr val="1A3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1.56s</a:t>
                      </a:r>
                    </a:p>
                  </a:txBody>
                  <a:tcPr anchor="ctr">
                    <a:solidFill>
                      <a:srgbClr val="1A3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ECC71"/>
                          </a:solidFill>
                        </a:defRPr>
                      </a:pPr>
                      <a:r>
                        <a:t>100% (전필드 정확)</a:t>
                      </a:r>
                    </a:p>
                  </a:txBody>
                  <a:tcPr anchor="ctr">
                    <a:solidFill>
                      <a:srgbClr val="1A3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ECC71"/>
                          </a:solidFill>
                        </a:defRPr>
                      </a:pPr>
                      <a:r>
                        <a:t>정확도 + 속도 최적</a:t>
                      </a:r>
                    </a:p>
                  </a:txBody>
                  <a:tcPr anchor="ctr">
                    <a:solidFill>
                      <a:srgbClr val="1A3A1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11480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74C3C"/>
                </a:solidFill>
              </a:defRPr>
            </a:pPr>
            <a:r>
              <a:t>기존 OCR 엔진의 한계</a:t>
            </a: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  - 반도체 라벨의 복잡한 코드(3AA00AAAU1TKJX)에서 반복 문자 구간 인식 실패</a:t>
            </a: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  - 속도도 LLM 대비 크게 빠르지 않음 (TrOCR 3.2초, RapidOCR 2.2초)</a:t>
            </a: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  - 정확도와 속도 모두에서 Qwen3.5에 열세</a:t>
            </a:r>
          </a:p>
          <a:p>
            <a:pPr algn="l">
              <a:defRPr sz="1000" b="0">
                <a:solidFill>
                  <a:srgbClr val="FFFFFF"/>
                </a:solidFill>
              </a:defRPr>
            </a:pPr>
          </a:p>
          <a:p>
            <a:pPr algn="l">
              <a:defRPr sz="1800" b="1">
                <a:solidFill>
                  <a:srgbClr val="2ECC71"/>
                </a:solidFill>
              </a:defRPr>
            </a:pPr>
            <a:r>
              <a:t>Qwen3.5 선택 이유</a:t>
            </a: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  - 397B 오픈소스 모델에서 Distillation된 소형 모델 (2B/0.8B) 사용 가능</a:t>
            </a: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  - 멀티모달 LLM이 이미지 전체 문맥을 이해하여 복잡한 코드도 정확히 인식</a:t>
            </a: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  - llama.cpp로 노트북 GPU에서 1.56초/장 실시간 추론 달성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4D9"/>
                </a:solidFill>
              </a:defRPr>
            </a:pPr>
            <a:r>
              <a:t>모델 사양 비교: 0.8B vs 2B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371600" y="1097280"/>
          <a:ext cx="94183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39440"/>
                <a:gridCol w="3139440"/>
                <a:gridCol w="3139440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항목</a:t>
                      </a:r>
                    </a:p>
                  </a:txBody>
                  <a:tcPr anchor="ctr">
                    <a:solidFill>
                      <a:srgbClr val="0052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Qwen3.5-0.8B</a:t>
                      </a:r>
                    </a:p>
                  </a:txBody>
                  <a:tcPr anchor="ctr">
                    <a:solidFill>
                      <a:srgbClr val="0052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Qwen3.5-2B</a:t>
                      </a:r>
                    </a:p>
                  </a:txBody>
                  <a:tcPr anchor="ctr">
                    <a:solidFill>
                      <a:srgbClr val="00529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39C12"/>
                          </a:solidFill>
                        </a:defRPr>
                      </a:pPr>
                      <a:r>
                        <a:t>파라미터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FFFFF"/>
                          </a:solidFill>
                        </a:defRPr>
                      </a:pPr>
                      <a:r>
                        <a:t>800M (Distilled)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FFFFF"/>
                          </a:solidFill>
                        </a:defRPr>
                      </a:pPr>
                      <a:r>
                        <a:t>2B (Distilled)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39C12"/>
                          </a:solidFill>
                        </a:defRPr>
                      </a:pPr>
                      <a:r>
                        <a:t>모델 크기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FFFFF"/>
                          </a:solidFill>
                        </a:defRPr>
                      </a:pPr>
                      <a:r>
                        <a:t>812 MB (Q8_0)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FFFFF"/>
                          </a:solidFill>
                        </a:defRPr>
                      </a:pPr>
                      <a:r>
                        <a:t>1.27 GB (Q4_K_M)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39C12"/>
                          </a:solidFill>
                        </a:defRPr>
                      </a:pPr>
                      <a:r>
                        <a:t>Vision Encoder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FFFFF"/>
                          </a:solidFill>
                        </a:defRPr>
                      </a:pPr>
                      <a:r>
                        <a:t>205 MB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FFFFF"/>
                          </a:solidFill>
                        </a:defRPr>
                      </a:pPr>
                      <a:r>
                        <a:t>668 MB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39C12"/>
                          </a:solidFill>
                        </a:defRPr>
                      </a:pPr>
                      <a:r>
                        <a:t>VRAM 사용량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FFFFF"/>
                          </a:solidFill>
                        </a:defRPr>
                      </a:pPr>
                      <a:r>
                        <a:t>~2.5 GB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FFFFF"/>
                          </a:solidFill>
                        </a:defRPr>
                      </a:pPr>
                      <a:r>
                        <a:t>~4.5 GB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39C12"/>
                          </a:solidFill>
                        </a:defRPr>
                      </a:pPr>
                      <a:r>
                        <a:t>아키텍처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FFFFF"/>
                          </a:solidFill>
                        </a:defRPr>
                      </a:pPr>
                      <a:r>
                        <a:t>Gated DeltaNet (Hybrid)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FFFFF"/>
                          </a:solidFill>
                        </a:defRPr>
                      </a:pPr>
                      <a:r>
                        <a:t>Standard Transformer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39C12"/>
                          </a:solidFill>
                        </a:defRPr>
                      </a:pPr>
                      <a:r>
                        <a:t>OCRBench (공식)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FFFFF"/>
                          </a:solidFill>
                        </a:defRPr>
                      </a:pPr>
                      <a:r>
                        <a:t>79.1점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FFFFF"/>
                          </a:solidFill>
                        </a:defRPr>
                      </a:pPr>
                      <a:r>
                        <a:t>85.4점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3035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CC71"/>
                </a:solidFill>
              </a:defRPr>
            </a:pPr>
            <a:r>
              <a:t>0.8B: 2B 대비 모델 36%, Vision Encoder 31% 크기 -&gt; VRAM 44% 절감</a:t>
            </a:r>
          </a:p>
          <a:p>
            <a:pPr algn="l">
              <a:defRPr sz="1400" b="0">
                <a:solidFill>
                  <a:srgbClr val="BDBDBD"/>
                </a:solidFill>
              </a:defRPr>
            </a:pPr>
            <a:r>
              <a:t>두 모델 모두 397B에서 Distillation된 모델이며, 노트북 GPU에서 실시간 추론 가능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4D9"/>
                </a:solidFill>
              </a:defRPr>
            </a:pPr>
            <a:r>
              <a:t>0.8B OCR 평가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74C3C"/>
                </a:solidFill>
              </a:defRPr>
            </a:pPr>
            <a:r>
              <a:t>기본 설정 (temperature=0)</a:t>
            </a:r>
          </a:p>
          <a:p>
            <a:pPr algn="l">
              <a:defRPr sz="800" b="0">
                <a:solidFill>
                  <a:srgbClr val="FFFFFF"/>
                </a:solidFill>
              </a:defRPr>
            </a:pPr>
          </a:p>
          <a:p>
            <a:pPr algn="l">
              <a:defRPr sz="1500" b="0">
                <a:solidFill>
                  <a:srgbClr val="2ECC71"/>
                </a:solidFill>
              </a:defRPr>
            </a:pPr>
            <a:r>
              <a:t>속도: 1.25초/장 (2B 대비 20% 빠름)</a:t>
            </a:r>
          </a:p>
          <a:p>
            <a:pPr algn="l">
              <a:defRPr sz="800" b="0">
                <a:solidFill>
                  <a:srgbClr val="FFFFFF"/>
                </a:solidFill>
              </a:defRPr>
            </a:pPr>
          </a:p>
          <a:p>
            <a:pPr algn="l">
              <a:defRPr sz="1500" b="1">
                <a:solidFill>
                  <a:srgbClr val="FFFFFF"/>
                </a:solidFill>
              </a:defRPr>
            </a:pPr>
            <a:r>
              <a:t>ITEM 필드 출력:</a:t>
            </a:r>
          </a:p>
          <a:p>
            <a:pPr algn="l">
              <a:defRPr sz="1600" b="1">
                <a:solidFill>
                  <a:srgbClr val="E74C3C"/>
                </a:solidFill>
              </a:defRPr>
            </a:pPr>
            <a:r>
              <a:t>  3AA00AAU1TKJX  (A 2개)</a:t>
            </a:r>
          </a:p>
          <a:p>
            <a:pPr algn="l">
              <a:defRPr sz="1400" b="0">
                <a:solidFill>
                  <a:srgbClr val="BDBDBD"/>
                </a:solidFill>
              </a:defRPr>
            </a:pPr>
            <a:r>
              <a:t>  Ground Truth: 3AA00AAAU1TKJX (A 3개)</a:t>
            </a:r>
          </a:p>
          <a:p>
            <a:pPr algn="l">
              <a:defRPr sz="800" b="0">
                <a:solidFill>
                  <a:srgbClr val="FFFFFF"/>
                </a:solidFill>
              </a:defRPr>
            </a:pPr>
          </a:p>
          <a:p>
            <a:pPr algn="l">
              <a:defRPr sz="1400" b="0">
                <a:solidFill>
                  <a:srgbClr val="E74C3C"/>
                </a:solidFill>
              </a:defRPr>
            </a:pPr>
            <a:r>
              <a:t>  -&gt; 3회 반복 모두 동일 오류</a:t>
            </a:r>
          </a:p>
          <a:p>
            <a:pPr algn="l">
              <a:defRPr sz="1400" b="0">
                <a:solidFill>
                  <a:srgbClr val="BDBDBD"/>
                </a:solidFill>
              </a:defRPr>
            </a:pPr>
            <a:r>
              <a:t>  -&gt; 반복 문자(AAA) 구간 인식 한계</a:t>
            </a:r>
          </a:p>
          <a:p>
            <a:pPr algn="l">
              <a:defRPr sz="1400" b="0">
                <a:solidFill>
                  <a:srgbClr val="FFFFFF"/>
                </a:solidFill>
              </a:defRPr>
            </a:pP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나머지 필드는 정상 인식</a:t>
            </a:r>
          </a:p>
          <a:p>
            <a:pPr algn="l">
              <a:defRPr sz="1300" b="0">
                <a:solidFill>
                  <a:srgbClr val="BDBDBD"/>
                </a:solidFill>
              </a:defRPr>
            </a:pPr>
            <a:r>
              <a:t>(SUPPLIER, DEVICE, LOT NO 등)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09728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CC71"/>
                </a:solidFill>
              </a:defRPr>
            </a:pPr>
            <a:r>
              <a:t>파라미터 조정시 (presence_penalty=1.5)</a:t>
            </a:r>
          </a:p>
          <a:p>
            <a:pPr algn="l">
              <a:defRPr sz="800" b="0">
                <a:solidFill>
                  <a:srgbClr val="FFFFFF"/>
                </a:solidFill>
              </a:defRPr>
            </a:pPr>
          </a:p>
          <a:p>
            <a:pPr algn="l">
              <a:defRPr sz="1500" b="0">
                <a:solidFill>
                  <a:srgbClr val="2ECC71"/>
                </a:solidFill>
              </a:defRPr>
            </a:pPr>
            <a:r>
              <a:t>속도: 1.35초/장</a:t>
            </a:r>
          </a:p>
          <a:p>
            <a:pPr algn="l">
              <a:defRPr sz="800" b="0">
                <a:solidFill>
                  <a:srgbClr val="FFFFFF"/>
                </a:solidFill>
              </a:defRPr>
            </a:pPr>
          </a:p>
          <a:p>
            <a:pPr algn="l">
              <a:defRPr sz="1500" b="1">
                <a:solidFill>
                  <a:srgbClr val="FFFFFF"/>
                </a:solidFill>
              </a:defRPr>
            </a:pPr>
            <a:r>
              <a:t>ITEM 필드 출력:</a:t>
            </a:r>
          </a:p>
          <a:p>
            <a:pPr algn="l">
              <a:defRPr sz="1600" b="1">
                <a:solidFill>
                  <a:srgbClr val="2ECC71"/>
                </a:solidFill>
              </a:defRPr>
            </a:pPr>
            <a:r>
              <a:t>  3AA00AAAU1TKJX  (A 3개 정확)</a:t>
            </a:r>
          </a:p>
          <a:p>
            <a:pPr algn="l">
              <a:defRPr sz="1400" b="0">
                <a:solidFill>
                  <a:srgbClr val="2ECC71"/>
                </a:solidFill>
              </a:defRPr>
            </a:pPr>
            <a:r>
              <a:t>  -&gt; 3/3회 모두 정확</a:t>
            </a:r>
          </a:p>
          <a:p>
            <a:pPr algn="l">
              <a:defRPr sz="800" b="0">
                <a:solidFill>
                  <a:srgbClr val="FFFFFF"/>
                </a:solidFill>
              </a:defRPr>
            </a:pPr>
          </a:p>
          <a:p>
            <a:pPr algn="l">
              <a:defRPr sz="1400" b="1">
                <a:solidFill>
                  <a:srgbClr val="F39C12"/>
                </a:solidFill>
              </a:defRPr>
            </a:pPr>
            <a:r>
              <a:t>presence_penalty 효과:</a:t>
            </a:r>
          </a:p>
          <a:p>
            <a:pPr algn="l">
              <a:defRPr sz="1300" b="0">
                <a:solidFill>
                  <a:srgbClr val="FFFFFF"/>
                </a:solidFill>
              </a:defRPr>
            </a:pPr>
            <a:r>
              <a:t>  Qwen3.5 공식 readme 권장값</a:t>
            </a:r>
          </a:p>
          <a:p>
            <a:pPr algn="l">
              <a:defRPr sz="1300" b="0">
                <a:solidFill>
                  <a:srgbClr val="FFFFFF"/>
                </a:solidFill>
              </a:defRPr>
            </a:pPr>
            <a:r>
              <a:t>  이미 등장한 토큰 확률을 낮춰</a:t>
            </a:r>
          </a:p>
          <a:p>
            <a:pPr algn="l">
              <a:defRPr sz="1300" b="0">
                <a:solidFill>
                  <a:srgbClr val="FFFFFF"/>
                </a:solidFill>
              </a:defRPr>
            </a:pPr>
            <a:r>
              <a:t>  반복 문자 조기 중단 방지</a:t>
            </a:r>
          </a:p>
          <a:p>
            <a:pPr algn="l">
              <a:defRPr sz="1400" b="0">
                <a:solidFill>
                  <a:srgbClr val="FFFFFF"/>
                </a:solidFill>
              </a:defRPr>
            </a:pPr>
          </a:p>
          <a:p>
            <a:pPr algn="l">
              <a:defRPr sz="1400" b="1">
                <a:solidFill>
                  <a:srgbClr val="2ECC71"/>
                </a:solidFill>
              </a:defRPr>
            </a:pPr>
            <a:r>
              <a:t>도입 가능성은 확인됨</a:t>
            </a:r>
          </a:p>
          <a:p>
            <a:pPr algn="l">
              <a:defRPr sz="1400" b="0">
                <a:solidFill>
                  <a:srgbClr val="F39C12"/>
                </a:solidFill>
              </a:defRPr>
            </a:pPr>
            <a:r>
              <a:t>단, 기본설정에서의 정확도가 전제조건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39C12"/>
                </a:solidFill>
              </a:defRPr>
            </a:pPr>
            <a:r>
              <a:t>0.8B 도입 판단: 보류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0.8B 모델은 파라미터 조정(presence_penalty=1.5)을 통해 현재 테스트 이미지에서</a:t>
            </a:r>
          </a:p>
          <a:p>
            <a:pPr algn="l">
              <a:defRPr sz="1600" b="0">
                <a:solidFill>
                  <a:srgbClr val="FFFFFF"/>
                </a:solidFill>
              </a:defRPr>
            </a:pPr>
            <a:r>
              <a:t>정확한 OCR 결과를 보여주었으나, 도입은 보류되어야 합니다.</a:t>
            </a:r>
          </a:p>
          <a:p>
            <a:pPr algn="l">
              <a:defRPr sz="1200" b="0">
                <a:solidFill>
                  <a:srgbClr val="FFFFFF"/>
                </a:solidFill>
              </a:defRPr>
            </a:pPr>
          </a:p>
          <a:p>
            <a:pPr algn="l">
              <a:defRPr sz="1600" b="1">
                <a:solidFill>
                  <a:srgbClr val="F39C12"/>
                </a:solidFill>
              </a:defRPr>
            </a:pPr>
            <a:r>
              <a:t>기본 설정에서도 정확한 결과를 보여줘야 프로덕션 환경에서 신뢰할 수 있습니다.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3200400"/>
          <a:ext cx="103327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44240"/>
                <a:gridCol w="3444240"/>
                <a:gridCol w="3444240"/>
              </a:tblGrid>
              <a:tr h="5715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기준</a:t>
                      </a:r>
                    </a:p>
                  </a:txBody>
                  <a:tcPr anchor="ctr">
                    <a:solidFill>
                      <a:srgbClr val="0052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Qwen3.5-0.8B</a:t>
                      </a:r>
                    </a:p>
                  </a:txBody>
                  <a:tcPr anchor="ctr">
                    <a:solidFill>
                      <a:srgbClr val="0052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Qwen3.5-2B</a:t>
                      </a:r>
                    </a:p>
                  </a:txBody>
                  <a:tcPr anchor="ctr">
                    <a:solidFill>
                      <a:srgbClr val="005299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39C12"/>
                          </a:solidFill>
                        </a:defRPr>
                      </a:pPr>
                      <a:r>
                        <a:t>기본 설정 정확도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E74C3C"/>
                          </a:solidFill>
                        </a:defRPr>
                      </a:pPr>
                      <a:r>
                        <a:t>ITEM 1글자 오류 (AAA-&gt;AA)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2ECC71"/>
                          </a:solidFill>
                        </a:defRPr>
                      </a:pPr>
                      <a:r>
                        <a:t>전필드 100% 정확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39C12"/>
                          </a:solidFill>
                        </a:defRPr>
                      </a:pPr>
                      <a:r>
                        <a:t>파라미터 조정 필요 여부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E74C3C"/>
                          </a:solidFill>
                        </a:defRPr>
                      </a:pPr>
                      <a:r>
                        <a:t>pp=1.5 적용시 100% 정확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2ECC71"/>
                          </a:solidFill>
                        </a:defRPr>
                      </a:pPr>
                      <a:r>
                        <a:t>불필요 (기본설정으로 충분)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39C12"/>
                          </a:solidFill>
                        </a:defRPr>
                      </a:pPr>
                      <a:r>
                        <a:t>다양한 라벨 대응 신뢰도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E74C3C"/>
                          </a:solidFill>
                        </a:defRPr>
                      </a:pPr>
                      <a:r>
                        <a:t>기본설정 신뢰성 부족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2ECC71"/>
                          </a:solidFill>
                        </a:defRPr>
                      </a:pPr>
                      <a:r>
                        <a:t>높음 (기본 정확도 확보)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6692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39C12"/>
                </a:solidFill>
              </a:defRPr>
            </a:pPr>
            <a:r>
              <a:t>결론: 0.8B는 잠재력이 있으나, 기본 설정에서의 정확도 확보가 선행되어야 도입 가능</a:t>
            </a:r>
          </a:p>
          <a:p>
            <a:pPr algn="l">
              <a:defRPr sz="1500" b="1">
                <a:solidFill>
                  <a:srgbClr val="2ECC71"/>
                </a:solidFill>
              </a:defRPr>
            </a:pPr>
            <a:r>
              <a:t>현 시점에서는 Qwen3.5-2B Q4_K_M (1.56초/장, 기본설정 100% 정확)을 유지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4D9"/>
                </a:solidFill>
              </a:defRPr>
            </a:pPr>
            <a:r>
              <a:t>최종 비교 요약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39C12"/>
                </a:solidFill>
              </a:defRPr>
            </a:pPr>
            <a:r>
              <a:t>Qwen3.5-0.8B (도입 보류)</a:t>
            </a:r>
          </a:p>
          <a:p>
            <a:pPr algn="ctr">
              <a:defRPr sz="1000" b="0">
                <a:solidFill>
                  <a:srgbClr val="FFFFFF"/>
                </a:solidFill>
              </a:defRPr>
            </a:pP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속도: 1.25초/장 (기본) / 1.35초 (pp=1.5)</a:t>
            </a: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VRAM: ~2.5 GB (8GB 중 31%)</a:t>
            </a: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모델 크기: 812MB + 205MB = 1.0GB</a:t>
            </a:r>
          </a:p>
          <a:p>
            <a:pPr algn="l">
              <a:defRPr sz="800" b="0">
                <a:solidFill>
                  <a:srgbClr val="FFFFFF"/>
                </a:solidFill>
              </a:defRPr>
            </a:pPr>
          </a:p>
          <a:p>
            <a:pPr algn="l">
              <a:defRPr sz="1400" b="1">
                <a:solidFill>
                  <a:srgbClr val="F39C12"/>
                </a:solidFill>
              </a:defRPr>
            </a:pPr>
            <a:r>
              <a:t>기본설정: ITEM 1글자 오류 (A 3개-&gt;2개)</a:t>
            </a: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그 외 전체 필드 정상 인식</a:t>
            </a:r>
          </a:p>
          <a:p>
            <a:pPr algn="l">
              <a:defRPr sz="1400" b="0">
                <a:solidFill>
                  <a:srgbClr val="2ECC71"/>
                </a:solidFill>
              </a:defRPr>
            </a:pPr>
            <a:r>
              <a:t>pp=1.5 적용시: 전필드 100% 정확</a:t>
            </a:r>
          </a:p>
          <a:p>
            <a:pPr algn="l">
              <a:defRPr sz="800" b="0">
                <a:solidFill>
                  <a:srgbClr val="FFFFFF"/>
                </a:solidFill>
              </a:defRPr>
            </a:pPr>
          </a:p>
          <a:p>
            <a:pPr algn="l">
              <a:defRPr sz="1300" b="0">
                <a:solidFill>
                  <a:srgbClr val="BDBDBD"/>
                </a:solidFill>
              </a:defRPr>
            </a:pPr>
            <a:r>
              <a:t>향후 모델 업데이트시 재평가 대상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77840" y="2286000"/>
            <a:ext cx="914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39C12"/>
                </a:solidFill>
              </a:defRPr>
            </a:pPr>
            <a:r>
              <a:t>vs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18872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2ECC71"/>
                </a:solidFill>
              </a:defRPr>
            </a:pPr>
            <a:r>
              <a:t>Qwen3.5-2B (현재 채택)</a:t>
            </a:r>
          </a:p>
          <a:p>
            <a:pPr algn="ctr">
              <a:defRPr sz="1000" b="0">
                <a:solidFill>
                  <a:srgbClr val="FFFFFF"/>
                </a:solidFill>
              </a:defRPr>
            </a:pP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속도: 1.56초/장</a:t>
            </a: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VRAM: ~4.5 GB (8GB 중 56%)</a:t>
            </a: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모델 크기: 1.27GB + 668MB = 1.9GB</a:t>
            </a:r>
          </a:p>
          <a:p>
            <a:pPr algn="l">
              <a:defRPr sz="800" b="0">
                <a:solidFill>
                  <a:srgbClr val="FFFFFF"/>
                </a:solidFill>
              </a:defRPr>
            </a:pPr>
          </a:p>
          <a:p>
            <a:pPr algn="l">
              <a:defRPr sz="1600" b="1">
                <a:solidFill>
                  <a:srgbClr val="2ECC71"/>
                </a:solidFill>
              </a:defRPr>
            </a:pPr>
            <a:r>
              <a:t>기본설정 ITEM 정확도: OK (3/3)</a:t>
            </a:r>
          </a:p>
          <a:p>
            <a:pPr algn="l">
              <a:defRPr sz="1400" b="0">
                <a:solidFill>
                  <a:srgbClr val="2ECC71"/>
                </a:solidFill>
              </a:defRPr>
            </a:pPr>
            <a:r>
              <a:t>추가 파라미터 조정 불필요</a:t>
            </a:r>
          </a:p>
          <a:p>
            <a:pPr algn="l">
              <a:defRPr sz="800" b="0">
                <a:solidFill>
                  <a:srgbClr val="FFFFFF"/>
                </a:solidFill>
              </a:defRPr>
            </a:pPr>
          </a:p>
          <a:p>
            <a:pPr algn="l">
              <a:defRPr sz="1300" b="0">
                <a:solidFill>
                  <a:srgbClr val="2ECC71"/>
                </a:solidFill>
              </a:defRPr>
            </a:pPr>
            <a:r>
              <a:t>안정적, 범용적 OCR 성능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4572000"/>
          <a:ext cx="112471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402336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단계</a:t>
                      </a:r>
                    </a:p>
                  </a:txBody>
                  <a:tcPr anchor="ctr">
                    <a:solidFill>
                      <a:srgbClr val="0052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구성</a:t>
                      </a:r>
                    </a:p>
                  </a:txBody>
                  <a:tcPr anchor="ctr">
                    <a:solidFill>
                      <a:srgbClr val="0052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속도</a:t>
                      </a:r>
                    </a:p>
                  </a:txBody>
                  <a:tcPr anchor="ctr">
                    <a:solidFill>
                      <a:srgbClr val="0052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정확도</a:t>
                      </a:r>
                    </a:p>
                  </a:txBody>
                  <a:tcPr anchor="ctr">
                    <a:solidFill>
                      <a:srgbClr val="00529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1. 초기 CLI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2B Q8_0, subprocess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4.79s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2ECC71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2. Server + 양자화</a:t>
                      </a:r>
                    </a:p>
                  </a:txBody>
                  <a:tcPr anchor="ctr">
                    <a:solidFill>
                      <a:srgbClr val="1A3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2B Q4_K_M, llama-server</a:t>
                      </a:r>
                    </a:p>
                  </a:txBody>
                  <a:tcPr anchor="ctr">
                    <a:solidFill>
                      <a:srgbClr val="1A3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1.56s (3.1x)</a:t>
                      </a:r>
                    </a:p>
                  </a:txBody>
                  <a:tcPr anchor="ctr">
                    <a:solidFill>
                      <a:srgbClr val="1A3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2ECC71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 anchor="ctr">
                    <a:solidFill>
                      <a:srgbClr val="1A3A1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3. 0.8B 시도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0.8B Q8_0, 기본설정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1.25s (3.8x)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F39C12"/>
                          </a:solidFill>
                        </a:defRPr>
                      </a:pPr>
                      <a:r>
                        <a:t>ITEM 1글자 오류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4. 0.8B 조정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0.8B Q8_0, pp=1.5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1.35s (3.5x)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F39C12"/>
                          </a:solidFill>
                        </a:defRPr>
                      </a:pPr>
                      <a:r>
                        <a:t>100% (조건부)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